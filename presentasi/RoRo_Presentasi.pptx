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83080"/>
            <a:ext cx="12188952" cy="1270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6400800" cy="254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645920" cy="5486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TUGAS AKHIR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RoRo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C2CB"/>
                </a:solidFill>
              </a:rPr>
              <a:t>Smart Robot Rollator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0"/>
                </a:solidFill>
              </a:rPr>
              <a:t>Tongkat Jalan Pintar Berbasis ESP32
dengan Kendali Motor, Deteksi IMU, SOS &amp; Monitoring Realtime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3200400" cy="1905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</a:rPr>
              <a:t>Tim Pengembang  | 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8"/>
                </a:solidFill>
              </a:rPr>
              <a:t>Platform: ESP32  •  Framework: Arduino / PlatformIO
Bahasa: C++  •  Real-time FreeRTOS  •  Cloud: Firebase + HiveMQ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371600"/>
            <a:ext cx="1645920" cy="12801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ESP32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371600"/>
            <a:ext cx="1645920" cy="1280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IMU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017520"/>
            <a:ext cx="164592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MQTT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017520"/>
            <a:ext cx="1645920" cy="128016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Firebase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8"/>
                </a:solidFill>
              </a:rPr>
              <a:t>Firmware ESP32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Mengapa RoRo dibangun?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2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3566160" cy="292608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Populasi Lansia Meningkat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74519"/>
            <a:ext cx="329184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Jumlah lanjut usia di Indonesia terus bertambah.
Risiko jatuh tinggi — butuh alat bantu yang lebih cerdas.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566160" cy="2926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Rollator Konvensional Pasif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874519"/>
            <a:ext cx="329184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965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Tongkat jalan tradisional tidak memberi umpan balik.
Tidak ada monitoring kondisi pengguna secara realtime.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566160" cy="2926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Keselamatan &amp; Respons Darurat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874519"/>
            <a:ext cx="329184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Tidak ada mekanisme SOS otomatis.
Keluarga / perawat tidak bisa memantau jarak jauh.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1143000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CB"/>
                </a:solidFill>
              </a:rPr>
              <a:t>✔  Solusi: RoRo — Smart Rollator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Rollator bermotor dengan kendali kecepatan adaptif  •  Deteksi gerakan IMU (berjalan vs diam)  •  Tombol SOS + notifikasi realtime
Dashboard lokal via HTTP  •  History tersimpan di Firebase Firestore  •  Push instan ke Flutter app via MQTT HiveMQ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Arsitektur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Dua domain eksekusi — realtime &amp; networking terpisah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3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5029200" cy="50292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61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</a:rPr>
              <a:t>Core 1 — FreeRTOS Tasks (Realtime)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73352"/>
            <a:ext cx="5029200" cy="254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466344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74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Prio 3 • 20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286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SOS button, buzzer state machine, speed beep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4663440" cy="118872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73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Prio 2 • 10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BTS7960 PWM, potentiometer, gas button + latch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72000"/>
            <a:ext cx="4663440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TaskIMU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645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Prio 2 • 120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MPU6050 I2C, motionScore EMA, deteksi berjalan/diam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01752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63B0"/>
                </a:solidFill>
              </a:rPr>
              <a:t>Queue*()
non-blocking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C2CB"/>
                </a:solidFill>
              </a:rPr>
              <a:t>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1188720"/>
            <a:ext cx="5029200" cy="5029200"/>
          </a:xfrm>
          <a:prstGeom prst="rect">
            <a:avLst/>
          </a:prstGeom>
          <a:solidFill>
            <a:srgbClr val="1A2A40"/>
          </a:solidFill>
          <a:ln w="25400">
            <a:solidFill>
              <a:srgbClr val="1B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261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3B0"/>
                </a:solidFill>
              </a:rPr>
              <a:t>Arduino loop() — Networking (Best-Effort)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1673352"/>
            <a:ext cx="5029200" cy="2540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03720" y="1874519"/>
            <a:ext cx="4663440" cy="914400"/>
          </a:xfrm>
          <a:prstGeom prst="rect">
            <a:avLst/>
          </a:prstGeom>
          <a:solidFill>
            <a:srgbClr val="0D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03720" y="1874519"/>
            <a:ext cx="109728" cy="9144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192023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wifiManagerLoop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258567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WiFi AP/STA state machine, mDNS rorro.local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2926079"/>
            <a:ext cx="4663440" cy="914400"/>
          </a:xfrm>
          <a:prstGeom prst="rect">
            <a:avLst/>
          </a:prstGeom>
          <a:solidFill>
            <a:srgbClr val="0D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3720" y="2926079"/>
            <a:ext cx="109728" cy="9144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297179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A28"/>
                </a:solidFill>
              </a:rPr>
              <a:t>firebaseManagerLoop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310127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Firestore REST HTTPS — history &amp; storage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77639"/>
            <a:ext cx="4663440" cy="914400"/>
          </a:xfrm>
          <a:prstGeom prst="rect">
            <a:avLst/>
          </a:prstGeom>
          <a:solidFill>
            <a:srgbClr val="0D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03720" y="3977639"/>
            <a:ext cx="109728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402335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mqttManagerLoop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361687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HiveMQ TLS 8883 — push realtime ke Flutter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5029199"/>
            <a:ext cx="4663440" cy="914400"/>
          </a:xfrm>
          <a:prstGeom prst="rect">
            <a:avLst/>
          </a:prstGeom>
          <a:solidFill>
            <a:srgbClr val="0D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03720" y="5029199"/>
            <a:ext cx="109728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507491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webServerLoop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413247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 API port 80 + dashboard.html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3276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2CB"/>
                </a:solidFill>
              </a:rPr>
              <a:t>Shared State: RobotData struct  •  portMUX_TYPE critical sections  •  volatile gActiveMotorSpeed / gSpeedLevelChanged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Fitur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Lima modul firmware RoRo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4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188720"/>
            <a:ext cx="2304288" cy="512064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61872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Kendali Motor DC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10512"/>
            <a:ext cx="212140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BTS7960 H-bridge x2 (kiri &amp; kanan)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9748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PWM 5 kHz, 8-bit, 0-250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47472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9 level kecepatan via potensiometer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5196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Tombol gas + latch triple-tap (3x ketuk = terkunci)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Konfirmasi beep saat ganti level kecepatan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188720"/>
            <a:ext cx="2304288" cy="5120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261872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Deteksi Gerak IMU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810512"/>
            <a:ext cx="212140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192024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MPU6050 6-axis I2C (GPIO 21/22)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69748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motionScore = accelDelta × 3.5 + gyroMag / 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47472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EMA smoothing α=0.25 @ 120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25196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Histerisis: ON ≥0.32, OFF ≤0.18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02920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Status: berjalan / diam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188720"/>
            <a:ext cx="2304288" cy="5120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261872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SOS &amp; Keselamatan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810512"/>
            <a:ext cx="212140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92024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Tombol SOS GPIO 4 (active-LOW)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69748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Buzzer GPIO 5 (toggle 250 ms) saat 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47472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Notifikasi Firebase + MQTT instan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25196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TaskSafety prioritas tertinggi (prio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02920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Motor stop sebelum aksi jaringan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1188720"/>
            <a:ext cx="2304288" cy="51206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1261872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 Lokal &amp;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1810512"/>
            <a:ext cx="212140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192024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HTTP API port 80 (GET/POST)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69748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GET /api/status — full state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47472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POST /api/motor/test — uji motor manual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25196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POST /api/sos/test — simulasi 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02920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dashboard.html polling tiap 1 detik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1188720"/>
            <a:ext cx="2304288" cy="5120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1261872"/>
            <a:ext cx="21214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Cloud &amp; Realtime Push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1810512"/>
            <a:ext cx="212140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192024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Firebase Firestore — history &amp; 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269748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MQTT HiveMQ TLS 8883 — live push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347472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Deferred-queue: tasks tidak blocking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25196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Retained message: subscriber langsung dapat 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5029200"/>
            <a:ext cx="2167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▶  Last Will: status offline otomatis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Hardware, firmware, cloud, dan 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5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188720"/>
            <a:ext cx="2880360" cy="5029200"/>
          </a:xfrm>
          <a:prstGeom prst="rect">
            <a:avLst/>
          </a:prstGeom>
          <a:solidFill>
            <a:srgbClr val="0D2236"/>
          </a:solidFill>
          <a:ln w="254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188720"/>
            <a:ext cx="2880360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21615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ESP32 DevKit (Xtensa LX6, 240 MHz, dual-core)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423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MPU6050 — Accelerometer + Gyroscope 6-axis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BTS7960 H-Bridge Driver x2 (motor kiri &amp; kanan)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DC Motor x2 (rollator kiri &amp; kanan)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Potensiometer 10K (GPIO 34, ADC 12-bit)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Buzzer aktif-LOW (GPIO 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Tombol SOS + Gas (INPUT_PULLUP)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1188720"/>
            <a:ext cx="2880360" cy="5029200"/>
          </a:xfrm>
          <a:prstGeom prst="rect">
            <a:avLst/>
          </a:prstGeom>
          <a:solidFill>
            <a:srgbClr val="0D2236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72968" y="1188720"/>
            <a:ext cx="28803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2968" y="121615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Firmware &amp;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PlatformIO + Arduino Framework (C++)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2423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FreeRTOS — xTaskCreatePinnedToCore (Core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4408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ArduinoJson v7 — serialisasi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PubSubClient — MQTT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408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WiFiClientSecure — TLS tanpa verifikasi sertifikat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408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WebServer — HTTP sinkron port 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Preferences — penyimpanan NVS (WiFi credentials)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1188720"/>
            <a:ext cx="2880360" cy="5029200"/>
          </a:xfrm>
          <a:prstGeom prst="rect">
            <a:avLst/>
          </a:prstGeom>
          <a:solidFill>
            <a:srgbClr val="0D2236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1188720"/>
            <a:ext cx="28803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21615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Cloud &amp; Infrastruktur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Firebase Firestore — REST API (documents:commit)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423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Google Identity Toolkit — anonymous auth +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HiveMQ Cloud — MQTT broker TLS port 8883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NTP: pool.ntp.org / time.google.com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mDNS: rorro.local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16568" y="1188720"/>
            <a:ext cx="2880360" cy="5029200"/>
          </a:xfrm>
          <a:prstGeom prst="rect">
            <a:avLst/>
          </a:prstGeom>
          <a:solidFill>
            <a:srgbClr val="0D2236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16568" y="1188720"/>
            <a:ext cx="288036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6568" y="1216152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Mobile &amp;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Flutter app (dikembangkan tim mobile)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8008" y="2423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Subscribe MQTT: rollators/&lt;id&gt;/#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8008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History dari Firestore subcollections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8008" y="3611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dashboard.html — control panel lokal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8008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 Tools: imu_tune.py, mqtt_test.py (Python)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Alur Kerja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Dari sensor ke cloud — deferred-queue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6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34440"/>
            <a:ext cx="2148840" cy="4389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298448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Sensor / 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93392"/>
            <a:ext cx="19659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Potensiometer (ADC)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Tombol Gas (GPIO 16)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Tombol SOS (GPIO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MPU6050 (I2C)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1B2A"/>
                </a:solidFill>
              </a:rPr>
              <a:t>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234440"/>
            <a:ext cx="2148840" cy="438912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1298448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FreeRTOS Task
(Core 1 — Realtime)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993392"/>
            <a:ext cx="19659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TaskMotor (10 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TaskSafety (20 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TaskIMU (120 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portMUX critical 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1B2A"/>
                </a:solidFill>
              </a:rPr>
              <a:t>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234440"/>
            <a:ext cx="2148840" cy="43891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1298448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Queue*()
Non-Blocking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993392"/>
            <a:ext cx="19659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firebaseManagerQueue*()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mqttManagerQueue*()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Hanya set flag + cache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Tidak blocking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1B2A"/>
                </a:solidFill>
              </a:rPr>
              <a:t>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1234440"/>
            <a:ext cx="2148840" cy="4389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1298448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Arduino loop()
(Best-Effort)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1993392"/>
            <a:ext cx="19659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wifiManagerLoop()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firebaseManagerLoop()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mqttManagerLoop()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webServerLoop()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1B2A"/>
                </a:solidFill>
              </a:rPr>
              <a:t>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1234440"/>
            <a:ext cx="2148840" cy="4389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1298448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Cloud / Output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1993392"/>
            <a:ext cx="19659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Firebase Firestore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HiveMQ MQTT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Flutter App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3694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●  dashboard.html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5715000"/>
            <a:ext cx="11795760" cy="502920"/>
          </a:xfrm>
          <a:prstGeom prst="rect">
            <a:avLst/>
          </a:prstGeom>
          <a:solidFill>
            <a:srgbClr val="FD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7E22"/>
                </a:solidFill>
              </a:rPr>
              <a:t>⚠  Retry logic: jika Firestore/MQTT gagal, flag pending=true → coba lagi 5 detik kemudian. Tasks tidak pernah blocking karena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API &amp; Dashboard Lokal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HTTP port 80 — akses via rorro.local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7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6858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3B0"/>
                </a:solidFill>
              </a:rPr>
              <a:t>HTTP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6858000" cy="1905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6858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836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/api/status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148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</a:rPr>
              <a:t>Full state: WiFi, gas, SOS, IMU, speeds,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14600"/>
            <a:ext cx="6858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694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560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/api/imu/status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34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</a:rPr>
              <a:t>Field IMU saja: status, pitch, roll, motionScore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00400"/>
            <a:ext cx="6858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2552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246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/api/wifi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520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</a:rPr>
              <a:t>Simpan SSID+password, restart ke STA 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6858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410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/api/provisioning/start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</a:rPr>
              <a:t>Paksa AP mode, restart untuk re-provisioning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72000"/>
            <a:ext cx="6858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6268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617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/api/motor/test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92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</a:rPr>
              <a:t>Uji motor manual: {left, right, duration_ms}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257800"/>
            <a:ext cx="6858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3126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03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/api/sos/test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77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</a:rPr>
              <a:t>Simulasi SOS: {clear: bool} → queue ke Firebase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1188720"/>
            <a:ext cx="45720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12618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MQTT Topics  (HiveMQ Retained)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1664208"/>
            <a:ext cx="4572000" cy="25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rollators/&lt;id&gt;/gas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21488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{"gas": bool, "deviceMillis": int}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28346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rollators/&lt;id&gt;/sos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1546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{"sos": bool, "deviceMillis": int}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840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rollators/&lt;id&gt;/imu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1605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{"status": "jalan|diam", "walking": bool,
 "pitch": float, "motionScore": float}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846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rollators/&lt;id&gt;/status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1663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{"online": bool}  ← Last Will offline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291072"/>
            <a:ext cx="11612880" cy="384048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327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3B0"/>
                </a:solidFill>
              </a:rPr>
              <a:t>ℹ  dashboard.html — standalone HTML, polling /api/status setiap 1 detik. Buka via http://rorro.local atau IP lokal ESP32.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Demo &amp; 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Demonstrasi sistem berjalan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8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749039" cy="2103120"/>
          </a:xfrm>
          <a:prstGeom prst="rect">
            <a:avLst/>
          </a:prstGeom>
          <a:solidFill>
            <a:srgbClr val="0D2236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7373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8"/>
                </a:solidFill>
              </a:rPr>
              <a:t>[FOTO / SCREENSHOT]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Hardware Rollator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Foto fisik rollator + ESP32 terpasang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188720"/>
            <a:ext cx="3749039" cy="2103120"/>
          </a:xfrm>
          <a:prstGeom prst="rect">
            <a:avLst/>
          </a:prstGeom>
          <a:solidFill>
            <a:srgbClr val="0D2236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7373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8"/>
                </a:solidFill>
              </a:rPr>
              <a:t>[FOTO / SCREENSHOT]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423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Serial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78892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Log FreeRTOS: TaskMotor, TaskIMU, TaskSafety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1188720"/>
            <a:ext cx="3749039" cy="2103120"/>
          </a:xfrm>
          <a:prstGeom prst="rect">
            <a:avLst/>
          </a:prstGeom>
          <a:solidFill>
            <a:srgbClr val="0D2236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8" y="17373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8"/>
                </a:solidFill>
              </a:rPr>
              <a:t>[FOTO / SCREENSHOT]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4231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dashboard.html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8" y="278892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Browser membuka http://rorro.local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3749039" cy="2103120"/>
          </a:xfrm>
          <a:prstGeom prst="rect">
            <a:avLst/>
          </a:prstGeom>
          <a:solidFill>
            <a:srgbClr val="0D2236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114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8"/>
                </a:solidFill>
              </a:rPr>
              <a:t>[FOTO / SCREENSHOT]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006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Firebase Console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663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Firestore — dokumen rollator + subcollection 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566160"/>
            <a:ext cx="3749039" cy="2103120"/>
          </a:xfrm>
          <a:prstGeom prst="rect">
            <a:avLst/>
          </a:prstGeom>
          <a:solidFill>
            <a:srgbClr val="0D2236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4114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8"/>
                </a:solidFill>
              </a:rPr>
              <a:t>[FOTO / SCREENSHOT]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48006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Flutter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51663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Tampilan realtime dari MQTT push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598" y="3566160"/>
            <a:ext cx="3749039" cy="2103120"/>
          </a:xfrm>
          <a:prstGeom prst="rect">
            <a:avLst/>
          </a:prstGeom>
          <a:solidFill>
            <a:srgbClr val="0D2236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4114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8"/>
                </a:solidFill>
              </a:rPr>
              <a:t>[FOTO / SCREENSHOT]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8006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</a:rPr>
              <a:t>MQTT 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51663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mqtt_web_monitor.html — topic live feed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78"/>
                </a:solidFill>
              </a:rPr>
              <a:t>Ganti placeholder [FOTO / SCREENSHOT] dengan gambar aktual saat presentasi.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Tim &amp; Kontribusi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CB"/>
                </a:solidFill>
              </a:rPr>
              <a:t>Pengembang firmware + 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9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4864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CB"/>
                </a:solidFill>
              </a:rPr>
              <a:t>⚡  Tim Firmware (ESP32)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19072"/>
            <a:ext cx="5486400" cy="254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7451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Arsitektur FreeRTOS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8745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Dual-core task, portMUX locking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3774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Motor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7743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BTS7960, PWM, potensiometer, triple-tap latch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8803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IMU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88035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MPU6050, motionScore EMA, state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38327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Safety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38327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SOS, buzzer, priority 3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8619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Firebase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88619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Firestore REST, auth, deferred-queue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8911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MQTT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3891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HiveMQ TLS, retained publish, Last Will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920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WiFi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89203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AP/STA state machine, mDNS, Preferences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3949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CB"/>
                </a:solidFill>
              </a:rPr>
              <a:t>▶  HTTP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39495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WebServer, dashboard.html, CORS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188720"/>
            <a:ext cx="5943600" cy="50292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6187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📱  Tim Mobile (Flutter)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719072"/>
            <a:ext cx="5943600" cy="25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18745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▶  Flutter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187451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Companion app untuk monitoring rollator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5145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▶  MQTT Subscribe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51459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rollators/&lt;id&gt;/# — realtime state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1546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▶  Dashboard Realtime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15467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Gas, SOS, IMU walking status, pitch/roll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7947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▶  History &amp;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79475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Firebase Firestore subcollection query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4348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▶  Offline Handling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4348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status.online=false → IMU dianggap offline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0749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▶  Notifikasi SOS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07491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Push notification saat SOS aktif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56578"/>
                </a:solidFill>
              </a:rPr>
              <a:t>Nama anggota tim dapat ditambahkan di sini sesuai kebutuhan presentasi.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Kesimpulan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8"/>
                </a:solidFill>
              </a:rPr>
              <a:t>RoRo — Smart Rollator   |   Firmware 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CB"/>
                </a:solidFill>
              </a:rPr>
              <a:t>10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0D2236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✔  Yang Berhasil Diimplementasikan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19072"/>
            <a:ext cx="5669280" cy="25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2880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Dual-core FreeRTOS: TaskMotor, TaskIMU, TaskSafety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4028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Kendali motor DC via BTS7960 + potentiometer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65176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Deteksi berjalan/diam — MPU6050 + EMA motionScore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6324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Tombol SOS + buzzer state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7472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Deferred-queue: tasks tidak blocking networking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8620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Firebase Firestore — storage &amp; history tiap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9768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MQTT HiveMQ TLS — push realtime ke Flutter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0916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WiFi provisioning AP/STA + mDNS rorro.local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12064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HTTP API lokal + dashboard.html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32120"/>
            <a:ext cx="5394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✔  Tools Python: imu_tune.py, mqtt_test.py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88720"/>
            <a:ext cx="5760720" cy="2560320"/>
          </a:xfrm>
          <a:prstGeom prst="rect">
            <a:avLst/>
          </a:prstGeom>
          <a:solidFill>
            <a:srgbClr val="0D2236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🔧  Pengembangan Selanjutnya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19072"/>
            <a:ext cx="5760720" cy="25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▶  Encoder roda — odometri &amp; feedback loop PID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221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▶  Monitoring baterai (GPIO 36 ADC)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151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▶  Fall detection — pitch/roll threshold otomatis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083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▶  TLS certificate verification (keamanan produksi)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401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▶  Physical emergency stop button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977639"/>
            <a:ext cx="5760720" cy="2240280"/>
          </a:xfrm>
          <a:prstGeom prst="rect">
            <a:avLst/>
          </a:prstGeom>
          <a:solidFill>
            <a:srgbClr val="1B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11480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709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2CB"/>
                </a:solidFill>
              </a:rPr>
              <a:t>RoRo — Smart Robot Rollator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120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Ada pertanyaan?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5321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E0"/>
                </a:solidFill>
              </a:rPr>
              <a:t>rorro.local  •  rollators/&lt;id&gt;/#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